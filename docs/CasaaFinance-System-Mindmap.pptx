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7498079" cy="1005840"/>
          </a:xfrm>
          <a:prstGeom prst="rect">
            <a:avLst/>
          </a:prstGeom>
          <a:noFill/>
        </p:spPr>
        <p:txBody>
          <a:bodyPr wrap="square" anchor="t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400" b="1">
                <a:solidFill>
                  <a:srgbClr val="F5B301"/>
                </a:solidFill>
                <a:latin typeface="Georgia"/>
              </a:rPr>
              <a:t>CasaaFinance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07792"/>
            <a:ext cx="7680960" cy="548640"/>
          </a:xfrm>
          <a:prstGeom prst="rect">
            <a:avLst/>
          </a:prstGeom>
          <a:noFill/>
        </p:spPr>
        <p:txBody>
          <a:bodyPr wrap="square" anchor="t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0">
                <a:solidFill>
                  <a:srgbClr val="E7EEF8"/>
                </a:solidFill>
                <a:latin typeface="Trebuchet MS"/>
              </a:rPr>
              <a:t>FinancePWA · System Mindmap &amp; Operating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511296"/>
            <a:ext cx="7726679" cy="1554480"/>
          </a:xfrm>
          <a:prstGeom prst="rect">
            <a:avLst/>
          </a:prstGeom>
          <a:noFill/>
        </p:spPr>
        <p:txBody>
          <a:bodyPr wrap="square" anchor="t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5B301"/>
                </a:solidFill>
                <a:latin typeface="Trebuchet MS"/>
              </a:rPr>
              <a:t>NORTHSTAR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500" b="1">
                <a:solidFill>
                  <a:srgbClr val="E7EEF8"/>
                </a:solidFill>
                <a:latin typeface="Trebuchet MS"/>
              </a:rPr>
              <a:t>Make Caspar + Sarah serious money — real-time, accurate, actionable intel across ETFs, stocks &amp; options.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200" b="0">
                <a:solidFill>
                  <a:srgbClr val="97AAC4"/>
                </a:solidFill>
                <a:latin typeface="Trebuchet MS"/>
              </a:rPr>
              <a:t>Phone-first · paper-trading · Google-Sheets-backed · alert-driven · 31 cron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989320"/>
            <a:ext cx="8229600" cy="457200"/>
          </a:xfrm>
          <a:prstGeom prst="rect">
            <a:avLst/>
          </a:prstGeom>
          <a:noFill/>
        </p:spPr>
        <p:txBody>
          <a:bodyPr wrap="square" anchor="t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E809B"/>
                </a:solidFill>
                <a:latin typeface="Trebuchet MS"/>
              </a:rPr>
              <a:t>2026-06-06   ·   repo xynkro/CasaaFinance   ·   GitHub Pages PWA</a:t>
            </a:r>
          </a:p>
        </p:txBody>
      </p:sp>
      <p:sp>
        <p:nvSpPr>
          <p:cNvPr id="7" name="Oval 6"/>
          <p:cNvSpPr/>
          <p:nvPr/>
        </p:nvSpPr>
        <p:spPr>
          <a:xfrm>
            <a:off x="9006840" y="1472184"/>
            <a:ext cx="201168" cy="20116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353312"/>
            <a:ext cx="2286000" cy="411480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7EEF8"/>
                </a:solidFill>
                <a:latin typeface="Trebuchet MS"/>
              </a:rPr>
              <a:t>Inputs</a:t>
            </a:r>
          </a:p>
        </p:txBody>
      </p:sp>
      <p:sp>
        <p:nvSpPr>
          <p:cNvPr id="9" name="Oval 8"/>
          <p:cNvSpPr/>
          <p:nvPr/>
        </p:nvSpPr>
        <p:spPr>
          <a:xfrm>
            <a:off x="9006840" y="2130552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2011680"/>
            <a:ext cx="2286000" cy="411480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7EEF8"/>
                </a:solidFill>
                <a:latin typeface="Trebuchet MS"/>
              </a:rPr>
              <a:t>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9006840" y="2788920"/>
            <a:ext cx="201168" cy="201168"/>
          </a:xfrm>
          <a:prstGeom prst="ellipse">
            <a:avLst/>
          </a:prstGeom>
          <a:solidFill>
            <a:srgbClr val="9F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670048"/>
            <a:ext cx="2286000" cy="411480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7EEF8"/>
                </a:solidFill>
                <a:latin typeface="Trebuchet MS"/>
              </a:rPr>
              <a:t>Source of Truth</a:t>
            </a:r>
          </a:p>
        </p:txBody>
      </p:sp>
      <p:sp>
        <p:nvSpPr>
          <p:cNvPr id="13" name="Oval 12"/>
          <p:cNvSpPr/>
          <p:nvPr/>
        </p:nvSpPr>
        <p:spPr>
          <a:xfrm>
            <a:off x="9006840" y="3447288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328416"/>
            <a:ext cx="2286000" cy="411480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7EEF8"/>
                </a:solidFill>
                <a:latin typeface="Trebuchet MS"/>
              </a:rPr>
              <a:t>Delivery</a:t>
            </a:r>
          </a:p>
        </p:txBody>
      </p:sp>
      <p:sp>
        <p:nvSpPr>
          <p:cNvPr id="15" name="Oval 14"/>
          <p:cNvSpPr/>
          <p:nvPr/>
        </p:nvSpPr>
        <p:spPr>
          <a:xfrm>
            <a:off x="9006840" y="4105655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986783"/>
            <a:ext cx="2286000" cy="411480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7EEF8"/>
                </a:solidFill>
                <a:latin typeface="Trebuchet MS"/>
              </a:rPr>
              <a:t>Principles</a:t>
            </a:r>
          </a:p>
        </p:txBody>
      </p:sp>
      <p:sp>
        <p:nvSpPr>
          <p:cNvPr id="17" name="Oval 16"/>
          <p:cNvSpPr/>
          <p:nvPr/>
        </p:nvSpPr>
        <p:spPr>
          <a:xfrm>
            <a:off x="9006840" y="4764023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4645151"/>
            <a:ext cx="2286000" cy="411480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7EEF8"/>
                </a:solidFill>
                <a:latin typeface="Trebuchet MS"/>
              </a:rPr>
              <a:t>Motley Fool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8686800" cy="548640"/>
          </a:xfrm>
          <a:prstGeom prst="rect">
            <a:avLst/>
          </a:prstGeom>
          <a:noFill/>
        </p:spPr>
        <p:txBody>
          <a:bodyPr wrap="square" anchor="t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E7EEF8"/>
                </a:solidFill>
                <a:latin typeface="Trebuchet MS"/>
              </a:rPr>
              <a:t>How CasaaFinance Works — System Mindmap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566160" cy="457200"/>
          </a:xfrm>
          <a:prstGeom prst="rect">
            <a:avLst/>
          </a:prstGeom>
          <a:noFill/>
        </p:spPr>
        <p:txBody>
          <a:bodyPr wrap="square" anchor="t" lIns="146304" rIns="128016" tIns="73152" bIns="7315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7AAC4"/>
                </a:solidFill>
                <a:latin typeface="Trebuchet MS"/>
              </a:rPr>
              <a:t>data sources → engine → sheet →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0" y="1645919"/>
            <a:ext cx="841248" cy="1316737"/>
          </a:xfrm>
          <a:prstGeom prst="line">
            <a:avLst/>
          </a:prstGeom>
          <a:ln w="19050">
            <a:solidFill>
              <a:srgbClr val="2C3E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40480" y="3392424"/>
            <a:ext cx="566928" cy="32004"/>
          </a:xfrm>
          <a:prstGeom prst="line">
            <a:avLst/>
          </a:prstGeom>
          <a:ln w="19050">
            <a:solidFill>
              <a:srgbClr val="2C3E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840480" y="3886200"/>
            <a:ext cx="841248" cy="1261872"/>
          </a:xfrm>
          <a:prstGeom prst="line">
            <a:avLst/>
          </a:prstGeom>
          <a:ln w="19050">
            <a:solidFill>
              <a:srgbClr val="2C3E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516367" y="1645919"/>
            <a:ext cx="834848" cy="1316737"/>
          </a:xfrm>
          <a:prstGeom prst="line">
            <a:avLst/>
          </a:prstGeom>
          <a:ln w="19050">
            <a:solidFill>
              <a:srgbClr val="2C3E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790688" y="3392424"/>
            <a:ext cx="560527" cy="32004"/>
          </a:xfrm>
          <a:prstGeom prst="line">
            <a:avLst/>
          </a:prstGeom>
          <a:ln w="19050">
            <a:solidFill>
              <a:srgbClr val="2C3E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7516367" y="3886200"/>
            <a:ext cx="834848" cy="1261872"/>
          </a:xfrm>
          <a:prstGeom prst="line">
            <a:avLst/>
          </a:prstGeom>
          <a:ln w="19050">
            <a:solidFill>
              <a:srgbClr val="2C3E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86868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60A5FA"/>
                </a:solidFill>
                <a:latin typeface="Trebuchet MS"/>
              </a:rPr>
              <a:t>INPUTS — data sources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IBKR + Alpaca · Yahoo prices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Macro: VIX · SPX · DXY · 10Y · SGD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News + Finnhub · Congress / Gov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Motley Fool · Bloomberg 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14983"/>
            <a:ext cx="68580" cy="126187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2615184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DD4BF"/>
                </a:solidFill>
                <a:latin typeface="Trebuchet MS"/>
              </a:rPr>
              <a:t>ENGINE — headless Python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31 cron + 3 manual workflows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Daily options + market scans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Scoring · technical signals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build_daily_plan · risk-parity · exits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61488"/>
            <a:ext cx="68580" cy="1261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4370832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9FB0C8"/>
                </a:solidFill>
                <a:latin typeface="Trebuchet MS"/>
              </a:rPr>
              <a:t>SOURCE OF TRUTH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Google Sheet — many tabs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Google Drive — WSR PDFs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sync.py writes · all readers 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17136"/>
            <a:ext cx="68580" cy="1261872"/>
          </a:xfrm>
          <a:prstGeom prst="roundRect">
            <a:avLst>
              <a:gd name="adj" fmla="val 50000"/>
            </a:avLst>
          </a:prstGeom>
          <a:solidFill>
            <a:srgbClr val="9F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51215" y="86868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34D399"/>
                </a:solidFill>
                <a:latin typeface="Trebuchet MS"/>
              </a:rPr>
              <a:t>DELIVERY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Telegram @Tron_shaft_bot pings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PWA on GitHub Pages (read-only)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11 pages · 41 cards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2655" y="1014983"/>
            <a:ext cx="68580" cy="126187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51215" y="2615184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A78BFA"/>
                </a:solidFill>
                <a:latin typeface="Trebuchet MS"/>
              </a:rPr>
              <a:t>PRINCIPLES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Inputs never auto-signal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Paper-only — human executes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Sheets = single source of truth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Cron writes · PWA reads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42655" y="2761488"/>
            <a:ext cx="68580" cy="126187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51215" y="4370832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59E0B"/>
                </a:solidFill>
                <a:latin typeface="Trebuchet MS"/>
              </a:rPr>
              <a:t>MOTLEY FOOL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4 roles: core · watch · overlay · ref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Read in-session (~monthly)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Engine INPUT, never auto-trade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30" b="0">
                <a:solidFill>
                  <a:srgbClr val="E7EEF8"/>
                </a:solidFill>
                <a:latin typeface="Trebuchet MS"/>
              </a:rPr>
              <a:t>Fires Telegram nudges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42655" y="4517136"/>
            <a:ext cx="68580" cy="1261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7408" y="2761488"/>
            <a:ext cx="3383280" cy="1325880"/>
          </a:xfrm>
          <a:prstGeom prst="roundRect">
            <a:avLst>
              <a:gd name="adj" fmla="val 1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E1829"/>
                </a:solidFill>
                <a:latin typeface="Trebuchet MS"/>
              </a:rPr>
              <a:t>★  NORTHSTAR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050" b="0">
                <a:solidFill>
                  <a:srgbClr val="0E1829"/>
                </a:solidFill>
                <a:latin typeface="Trebuchet MS"/>
              </a:rPr>
              <a:t>Make Caspar + Sarah serious money in the market — across ETFs, stocks &amp; options.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5A4205"/>
                </a:solidFill>
                <a:latin typeface="Trebuchet MS"/>
              </a:rPr>
              <a:t>real-time · timely · actionable · accurate · specific intel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48640"/>
          </a:xfrm>
          <a:prstGeom prst="rect">
            <a:avLst/>
          </a:prstGeom>
          <a:noFill/>
        </p:spPr>
        <p:txBody>
          <a:bodyPr wrap="square" anchor="t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E7EEF8"/>
                </a:solidFill>
                <a:latin typeface="Georgia"/>
              </a:rPr>
              <a:t>Principles of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 anchor="t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97AAC4"/>
                </a:solidFill>
                <a:latin typeface="Trebuchet MS"/>
              </a:rPr>
              <a:t>The rules the system runs by — the guardrails behind every automated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4944" y="1664208"/>
            <a:ext cx="237744" cy="237744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490472"/>
            <a:ext cx="4617720" cy="859536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7EEF8"/>
                </a:solidFill>
                <a:latin typeface="Trebuchet MS"/>
              </a:rPr>
              <a:t>Inputs are fuel, not the driver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50" b="0">
                <a:solidFill>
                  <a:srgbClr val="97AAC4"/>
                </a:solidFill>
                <a:latin typeface="Trebuchet MS"/>
              </a:rPr>
              <a:t>Motley Fool, macro, news, congress feed the engine — none auto-fires a trade.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371600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166420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490472"/>
            <a:ext cx="4617720" cy="859536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7EEF8"/>
                </a:solidFill>
                <a:latin typeface="Trebuchet MS"/>
              </a:rPr>
              <a:t>Paper-only. The human pulls the trigger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50" b="0">
                <a:solidFill>
                  <a:srgbClr val="97AAC4"/>
                </a:solidFill>
                <a:latin typeface="Trebuchet MS"/>
              </a:rPr>
              <a:t>The system plans and paper-executes; Caspar places every real order himself.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87752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" y="2880360"/>
            <a:ext cx="237744" cy="237744"/>
          </a:xfrm>
          <a:prstGeom prst="ellipse">
            <a:avLst/>
          </a:prstGeom>
          <a:solidFill>
            <a:srgbClr val="9F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06624"/>
            <a:ext cx="4617720" cy="859536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7EEF8"/>
                </a:solidFill>
                <a:latin typeface="Trebuchet MS"/>
              </a:rPr>
              <a:t>Google Sheets is the single source of truth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50" b="0">
                <a:solidFill>
                  <a:srgbClr val="97AAC4"/>
                </a:solidFill>
                <a:latin typeface="Trebuchet MS"/>
              </a:rPr>
              <a:t>Every tab is the data contract; the PWA and all scripts read the same rows.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587752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2880360"/>
            <a:ext cx="237744" cy="23774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2706624"/>
            <a:ext cx="4617720" cy="859536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7EEF8"/>
                </a:solidFill>
                <a:latin typeface="Trebuchet MS"/>
              </a:rPr>
              <a:t>Headless cron does the work; the PWA only reads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50" b="0">
                <a:solidFill>
                  <a:srgbClr val="97AAC4"/>
                </a:solidFill>
                <a:latin typeface="Trebuchet MS"/>
              </a:rPr>
              <a:t>34 GitHub Actions write hourly/daily; the app never writes back to the sheet.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03904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4944" y="409651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3922776"/>
            <a:ext cx="4617720" cy="859536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7EEF8"/>
                </a:solidFill>
                <a:latin typeface="Trebuchet MS"/>
              </a:rPr>
              <a:t>IBKR sync is manual and authoritative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50" b="0">
                <a:solidFill>
                  <a:srgbClr val="97AAC4"/>
                </a:solidFill>
                <a:latin typeface="Trebuchet MS"/>
              </a:rPr>
              <a:t>Run ibkr_grab.py to discover new positions; cloud tracks prices between syncs.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3803904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65392" y="4096512"/>
            <a:ext cx="237744" cy="237744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3922776"/>
            <a:ext cx="4617720" cy="859536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7EEF8"/>
                </a:solidFill>
                <a:latin typeface="Trebuchet MS"/>
              </a:rPr>
              <a:t>The engine grades itself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50" b="0">
                <a:solidFill>
                  <a:srgbClr val="97AAC4"/>
                </a:solidFill>
                <a:latin typeface="Trebuchet MS"/>
              </a:rPr>
              <a:t>Paper benchmark (MF sleeve vs SPY), hit-rate, signal feedback close the loop.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0056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4944" y="5312664"/>
            <a:ext cx="237744" cy="23774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138928"/>
            <a:ext cx="4617720" cy="859536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7EEF8"/>
                </a:solidFill>
                <a:latin typeface="Trebuchet MS"/>
              </a:rPr>
              <a:t>Secrets never touch git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50" b="0">
                <a:solidFill>
                  <a:srgbClr val="97AAC4"/>
                </a:solidFill>
                <a:latin typeface="Trebuchet MS"/>
              </a:rPr>
              <a:t>Tokens live in .env + CI secrets — never logged, never staged with git add -A.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5020056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65392" y="5312664"/>
            <a:ext cx="237744" cy="23774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5138928"/>
            <a:ext cx="4617720" cy="859536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7EEF8"/>
                </a:solidFill>
                <a:latin typeface="Trebuchet MS"/>
              </a:rPr>
              <a:t>Features degrade gracefully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</a:pPr>
            <a:r>
              <a:rPr sz="1050" b="0">
                <a:solidFill>
                  <a:srgbClr val="97AAC4"/>
                </a:solidFill>
                <a:latin typeface="Trebuchet MS"/>
              </a:rPr>
              <a:t>Each stays inert without its key (e.g. Bloomberg email until Gmail OAuth is wired).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548640"/>
          </a:xfrm>
          <a:prstGeom prst="rect">
            <a:avLst/>
          </a:prstGeom>
          <a:noFill/>
        </p:spPr>
        <p:txBody>
          <a:bodyPr wrap="square" anchor="t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E7EEF8"/>
                </a:solidFill>
                <a:latin typeface="Georgia"/>
              </a:rPr>
              <a:t>How It's Put Together —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 anchor="t" lIns="146304" rIns="128016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97AAC4"/>
                </a:solidFill>
                <a:latin typeface="Trebuchet MS"/>
              </a:rPr>
              <a:t>One direction of flow: external data is pulled, scored, written to the sheet, then surfaced to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487168" cy="301752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1430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487168" cy="566928"/>
          </a:xfrm>
          <a:prstGeom prst="roundRect">
            <a:avLst>
              <a:gd name="adj" fmla="val 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0784"/>
            <a:ext cx="2487168" cy="457200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0E1829"/>
                </a:solidFill>
                <a:latin typeface="Trebuchet MS"/>
              </a:rPr>
              <a:t>1 ·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22576"/>
            <a:ext cx="2395728" cy="2240279"/>
          </a:xfrm>
          <a:prstGeom prst="rect">
            <a:avLst/>
          </a:prstGeom>
          <a:noFill/>
        </p:spPr>
        <p:txBody>
          <a:bodyPr wrap="square" anchor="t" lIns="16459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IBKR + Alpaca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Yahoo prices (hourly)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Macro: VIX/SPX/DXY/10Y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News + Finnhub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Congress + Gov contracts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Motley Fool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Bloomberg email</a:t>
            </a:r>
          </a:p>
        </p:txBody>
      </p:sp>
      <p:sp>
        <p:nvSpPr>
          <p:cNvPr id="9" name="Chevron 8"/>
          <p:cNvSpPr/>
          <p:nvPr/>
        </p:nvSpPr>
        <p:spPr>
          <a:xfrm>
            <a:off x="2980944" y="2898648"/>
            <a:ext cx="292608" cy="512064"/>
          </a:xfrm>
          <a:prstGeom prst="chevron">
            <a:avLst/>
          </a:prstGeom>
          <a:solidFill>
            <a:srgbClr val="2C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0128" y="1645920"/>
            <a:ext cx="2487168" cy="301752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1430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0128" y="1645920"/>
            <a:ext cx="2487168" cy="566928"/>
          </a:xfrm>
          <a:prstGeom prst="roundRect">
            <a:avLst>
              <a:gd name="adj" fmla="val 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700784"/>
            <a:ext cx="2487168" cy="457200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0E1829"/>
                </a:solidFill>
                <a:latin typeface="Trebuchet MS"/>
              </a:rPr>
              <a:t>2 ·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322576"/>
            <a:ext cx="2395728" cy="2240279"/>
          </a:xfrm>
          <a:prstGeom prst="rect">
            <a:avLst/>
          </a:prstGeom>
          <a:noFill/>
        </p:spPr>
        <p:txBody>
          <a:bodyPr wrap="square" anchor="t" lIns="16459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31 cron + 3 manual workflows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Daily options + market scans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Scoring + technical signals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build_daily_plan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Risk-parity + exit plans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Paper benchmark vs SPY</a:t>
            </a:r>
          </a:p>
        </p:txBody>
      </p:sp>
      <p:sp>
        <p:nvSpPr>
          <p:cNvPr id="14" name="Chevron 13"/>
          <p:cNvSpPr/>
          <p:nvPr/>
        </p:nvSpPr>
        <p:spPr>
          <a:xfrm>
            <a:off x="5833872" y="2898648"/>
            <a:ext cx="292608" cy="512064"/>
          </a:xfrm>
          <a:prstGeom prst="chevron">
            <a:avLst/>
          </a:prstGeom>
          <a:solidFill>
            <a:srgbClr val="2C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1645920"/>
            <a:ext cx="2487168" cy="301752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1430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3056" y="1645920"/>
            <a:ext cx="2487168" cy="566928"/>
          </a:xfrm>
          <a:prstGeom prst="roundRect">
            <a:avLst>
              <a:gd name="adj" fmla="val 5000"/>
            </a:avLst>
          </a:prstGeom>
          <a:solidFill>
            <a:srgbClr val="9F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700784"/>
            <a:ext cx="2487168" cy="457200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0E1829"/>
                </a:solidFill>
                <a:latin typeface="Trebuchet MS"/>
              </a:rPr>
              <a:t>3 ·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2322576"/>
            <a:ext cx="2395728" cy="2240279"/>
          </a:xfrm>
          <a:prstGeom prst="rect">
            <a:avLst/>
          </a:prstGeom>
          <a:noFill/>
        </p:spPr>
        <p:txBody>
          <a:bodyPr wrap="square" anchor="t" lIns="16459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Google Sheet (many tabs)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Google Drive (WSR PDFs)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schema.py = the contract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sync.py writes rows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Single source of truth</a:t>
            </a:r>
          </a:p>
        </p:txBody>
      </p:sp>
      <p:sp>
        <p:nvSpPr>
          <p:cNvPr id="19" name="Chevron 18"/>
          <p:cNvSpPr/>
          <p:nvPr/>
        </p:nvSpPr>
        <p:spPr>
          <a:xfrm>
            <a:off x="8686800" y="2898648"/>
            <a:ext cx="292608" cy="512064"/>
          </a:xfrm>
          <a:prstGeom prst="chevron">
            <a:avLst/>
          </a:prstGeom>
          <a:solidFill>
            <a:srgbClr val="2C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15984" y="1645920"/>
            <a:ext cx="2487168" cy="301752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1430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15984" y="1645920"/>
            <a:ext cx="2487168" cy="566928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5984" y="1700784"/>
            <a:ext cx="2487168" cy="457200"/>
          </a:xfrm>
          <a:prstGeom prst="rect">
            <a:avLst/>
          </a:prstGeom>
          <a:noFill/>
        </p:spPr>
        <p:txBody>
          <a:bodyPr wrap="square" anchor="ctr" lIns="146304" rIns="128016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0E1829"/>
                </a:solidFill>
                <a:latin typeface="Trebuchet MS"/>
              </a:rPr>
              <a:t>4 · 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322576"/>
            <a:ext cx="2395728" cy="2240279"/>
          </a:xfrm>
          <a:prstGeom prst="rect">
            <a:avLst/>
          </a:prstGeom>
          <a:noFill/>
        </p:spPr>
        <p:txBody>
          <a:bodyPr wrap="square" anchor="t" lIns="16459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Telegram pings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  @Tron_shaft_bot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PWA on GitHub Pages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11 pages · 41 cards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7EEF8"/>
                </a:solidFill>
                <a:latin typeface="Trebuchet MS"/>
              </a:rPr>
              <a:t>Read-only surface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11274552" cy="658368"/>
          </a:xfrm>
          <a:prstGeom prst="roundRect">
            <a:avLst>
              <a:gd name="adj" fmla="val 18000"/>
            </a:avLst>
          </a:prstGeom>
          <a:solidFill>
            <a:srgbClr val="213250"/>
          </a:solidFill>
          <a:ln w="9525">
            <a:solidFill>
              <a:srgbClr val="2C3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E7EEF8"/>
                </a:solidFill>
                <a:latin typeface="Trebuchet MS"/>
              </a:rPr>
              <a:t>CADENCE   ·   Hourly: prices + macro     Daily (Mon–Fri): scans + brief     Wed/Fri + Sun: WSR     Event-driven: Telegram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